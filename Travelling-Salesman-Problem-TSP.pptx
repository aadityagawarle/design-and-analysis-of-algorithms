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Krona One"/>
      <p:regular r:id="rId201314"/>
    </p:embeddedFont>
    <p:embeddedFont>
      <p:font typeface="Lexend"/>
      <p:regular r:id="rId201315"/>
    </p:embeddedFont>
    <p:embeddedFont>
      <p:font typeface="Lexend Medium"/>
      <p:regular r:id="rId201316"/>
    </p:embeddedFont>
    <p:embeddedFont>
      <p:font typeface="Lexend Bold"/>
      <p:regular r:id="rId201317"/>
    </p:embeddedFont>
    <p:embeddedFont>
      <p:font typeface="Martian Mono Medium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4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image" Target="../media/image-1002-3.png"/><Relationship Id="rId5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3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51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4" name="Image 2" descr="preencoded.png">
            <a:hlinkClick r:id="rId4" tooltip="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5154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7380" y="931545"/>
            <a:ext cx="642603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DESIGN AND ANALYSIS OF ALGORITHMS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787380" y="1280781"/>
            <a:ext cx="5816454" cy="18927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600" spc="-46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Travelling</a:t>
            </a:r>
            <a:endParaRPr lang="en-US" sz="4600" dirty="0"/>
          </a:p>
          <a:p>
            <a:pPr algn="l" indent="0" marL="0">
              <a:lnSpc>
                <a:spcPct val="90000"/>
              </a:lnSpc>
              <a:buNone/>
            </a:pPr>
            <a:r>
              <a:rPr lang="en-US" sz="4600" spc="-46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Salesman Problem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787380" y="3440212"/>
            <a:ext cx="581645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TSP · Finding the cheapest round trip through every city.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787380" y="4430177"/>
            <a:ext cx="5816454" cy="693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Student Name: Aaditya Gawarle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PRN/Roll No.: 25070521052 · Division: A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College: SIT Nagpur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87380" y="5404723"/>
            <a:ext cx="642603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FFFF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AI TOOL USED: GAMMA AI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87380" y="6358890"/>
            <a:ext cx="7061023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DAA | Travelling Salesman Problem | AI Tool: Gamma AI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855345"/>
            <a:ext cx="595863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THE QUESTION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1178030"/>
            <a:ext cx="5958631" cy="14894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400" spc="-17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Find the shortest round trip through every city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2962592"/>
            <a:ext cx="5958631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Start from one city, visit every other city exactly once, and return to where you began.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585" y="4257179"/>
            <a:ext cx="3700668" cy="475357"/>
          </a:xfrm>
          <a:prstGeom prst="roundRect">
            <a:avLst>
              <a:gd name="adj" fmla="val 21544"/>
            </a:avLst>
          </a:prstGeom>
          <a:solidFill>
            <a:srgbClr val="001C4D"/>
          </a:solidFill>
          <a:ln/>
        </p:spPr>
      </p:sp>
      <p:sp>
        <p:nvSpPr>
          <p:cNvPr id="6" name="Text 4"/>
          <p:cNvSpPr/>
          <p:nvPr/>
        </p:nvSpPr>
        <p:spPr>
          <a:xfrm>
            <a:off x="792440" y="4349463"/>
            <a:ext cx="3944541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spc="115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MINIMUM TOTAL COST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7025305" y="609600"/>
            <a:ext cx="4556805" cy="4351536"/>
          </a:xfrm>
          <a:prstGeom prst="roundRect">
            <a:avLst>
              <a:gd name="adj" fmla="val 3502"/>
            </a:avLst>
          </a:prstGeom>
          <a:solidFill>
            <a:srgbClr val="1E1F66"/>
          </a:solidFill>
          <a:ln w="19050">
            <a:solidFill>
              <a:srgbClr val="2878FF"/>
            </a:solidFill>
            <a:prstDash val="solid"/>
          </a:ln>
          <a:effectLst>
            <a:outerShdw sx="100000" sy="100000" kx="0" ky="0" algn="bl" rotWithShape="0" blurRad="201930" dist="127" dir="16200000">
              <a:srgbClr val="2878ff">
                <a:alpha val="4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272949" y="869950"/>
            <a:ext cx="406151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Visit once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272949" y="1415098"/>
            <a:ext cx="430916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No city is repeated.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7272949" y="1969095"/>
            <a:ext cx="4061517" cy="38100"/>
          </a:xfrm>
          <a:prstGeom prst="roundRect">
            <a:avLst>
              <a:gd name="adj" fmla="val 49999"/>
            </a:avLst>
          </a:prstGeom>
          <a:solidFill>
            <a:srgbClr val="3A3D8C"/>
          </a:solidFill>
          <a:ln/>
        </p:spPr>
      </p:sp>
      <p:sp>
        <p:nvSpPr>
          <p:cNvPr id="11" name="Text 9"/>
          <p:cNvSpPr/>
          <p:nvPr/>
        </p:nvSpPr>
        <p:spPr>
          <a:xfrm>
            <a:off x="7272949" y="2369145"/>
            <a:ext cx="406151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Close the loop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272949" y="2914293"/>
            <a:ext cx="430916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Return to the start.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7272949" y="3468291"/>
            <a:ext cx="4061517" cy="38100"/>
          </a:xfrm>
          <a:prstGeom prst="roundRect">
            <a:avLst>
              <a:gd name="adj" fmla="val 49999"/>
            </a:avLst>
          </a:prstGeom>
          <a:solidFill>
            <a:srgbClr val="3A3D8C"/>
          </a:solidFill>
          <a:ln/>
        </p:spPr>
      </p:sp>
      <p:sp>
        <p:nvSpPr>
          <p:cNvPr id="14" name="Text 12"/>
          <p:cNvSpPr/>
          <p:nvPr/>
        </p:nvSpPr>
        <p:spPr>
          <a:xfrm>
            <a:off x="7272949" y="3868341"/>
            <a:ext cx="406151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Choose the minimum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7272949" y="4413488"/>
            <a:ext cx="430916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Compare total travel cost.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09585" y="5243076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DAA | Travelling Salesman Problem | AI Tool: Gamma AI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3329797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REPRESENTATION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9430"/>
            <a:ext cx="3329797" cy="1985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400" spc="-17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Model cities as a weighted graph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3219053"/>
            <a:ext cx="3329797" cy="20292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spcAft>
                <a:spcPts val="1350"/>
              </a:spcAft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Vertices are cities. Weighted edges store road distances or travel costs.</a:t>
            </a:r>
            <a:endParaRPr lang="en-US" sz="1800" dirty="0"/>
          </a:p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same values can be stored in a cost adjacency matrix.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609585" y="5530215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DAA | Travelling Salesman Problem | AI Tool: Gamma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386254" y="1878608"/>
            <a:ext cx="2763669" cy="22027"/>
          </a:xfrm>
          <a:prstGeom prst="line">
            <a:avLst/>
          </a:prstGeom>
          <a:solidFill>
            <a:srgbClr val="2878FF"/>
          </a:solidFill>
          <a:ln w="25400">
            <a:solidFill>
              <a:srgbClr val="2878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386254" y="1878608"/>
            <a:ext cx="22026" cy="2100362"/>
          </a:xfrm>
          <a:prstGeom prst="line">
            <a:avLst/>
          </a:prstGeom>
          <a:solidFill>
            <a:srgbClr val="2878FF"/>
          </a:solidFill>
          <a:ln w="25400">
            <a:solidFill>
              <a:srgbClr val="2878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386254" y="3979069"/>
            <a:ext cx="2763669" cy="22027"/>
          </a:xfrm>
          <a:prstGeom prst="line">
            <a:avLst/>
          </a:prstGeom>
          <a:solidFill>
            <a:srgbClr val="2878FF"/>
          </a:solidFill>
          <a:ln w="25400">
            <a:solidFill>
              <a:srgbClr val="2878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49923" y="1878608"/>
            <a:ext cx="22026" cy="2100362"/>
          </a:xfrm>
          <a:prstGeom prst="line">
            <a:avLst/>
          </a:prstGeom>
          <a:solidFill>
            <a:srgbClr val="2878FF"/>
          </a:solidFill>
          <a:ln w="25400">
            <a:solidFill>
              <a:srgbClr val="2878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386254" y="1878608"/>
            <a:ext cx="2763669" cy="2100362"/>
          </a:xfrm>
          <a:prstGeom prst="line">
            <a:avLst/>
          </a:prstGeom>
          <a:solidFill>
            <a:srgbClr val="2878FF"/>
          </a:solidFill>
          <a:ln w="19050">
            <a:solidFill>
              <a:srgbClr val="27E0E3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99310" y="1491655"/>
            <a:ext cx="773788" cy="773807"/>
          </a:xfrm>
          <a:prstGeom prst="ellipse">
            <a:avLst/>
          </a:prstGeom>
          <a:solidFill>
            <a:srgbClr val="2878FF"/>
          </a:solidFill>
          <a:ln w="25400">
            <a:solidFill>
              <a:srgbClr val="27E0E3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62979" y="1491655"/>
            <a:ext cx="773788" cy="773807"/>
          </a:xfrm>
          <a:prstGeom prst="ellipse">
            <a:avLst/>
          </a:prstGeom>
          <a:solidFill>
            <a:srgbClr val="2878FF"/>
          </a:solidFill>
          <a:ln w="25400">
            <a:solidFill>
              <a:srgbClr val="27E0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999310" y="3592116"/>
            <a:ext cx="773788" cy="773807"/>
          </a:xfrm>
          <a:prstGeom prst="ellipse">
            <a:avLst/>
          </a:prstGeom>
          <a:solidFill>
            <a:srgbClr val="2878FF"/>
          </a:solidFill>
          <a:ln w="25400">
            <a:solidFill>
              <a:srgbClr val="27E0E3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762979" y="3592116"/>
            <a:ext cx="773788" cy="773807"/>
          </a:xfrm>
          <a:prstGeom prst="ellipse">
            <a:avLst/>
          </a:prstGeom>
          <a:solidFill>
            <a:srgbClr val="2878FF"/>
          </a:solidFill>
          <a:ln w="25400">
            <a:solidFill>
              <a:srgbClr val="27E0E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49017" y="1761192"/>
            <a:ext cx="674373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A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812687" y="1761192"/>
            <a:ext cx="674373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B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049017" y="3861653"/>
            <a:ext cx="674373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812687" y="3861653"/>
            <a:ext cx="674373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D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960319" y="1542038"/>
            <a:ext cx="117343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10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628639" y="2315845"/>
            <a:ext cx="117343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15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960319" y="4084618"/>
            <a:ext cx="117343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30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060628" y="2647533"/>
            <a:ext cx="117343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25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34107" y="2503765"/>
            <a:ext cx="128395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35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4754840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669118" y="624509"/>
            <a:ext cx="5912992" cy="817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Two TSP types, many real-world uses</a:t>
            </a:r>
            <a:endParaRPr lang="en-US" sz="2800" dirty="0"/>
          </a:p>
        </p:txBody>
      </p:sp>
      <p:sp>
        <p:nvSpPr>
          <p:cNvPr id="4" name="Text 1"/>
          <p:cNvSpPr/>
          <p:nvPr/>
        </p:nvSpPr>
        <p:spPr>
          <a:xfrm>
            <a:off x="5669118" y="1746131"/>
            <a:ext cx="280405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SYMMETRIC TSP</a:t>
            </a:r>
            <a:endParaRPr lang="en-US" sz="1300" dirty="0"/>
          </a:p>
        </p:txBody>
      </p:sp>
      <p:sp>
        <p:nvSpPr>
          <p:cNvPr id="5" name="Text 2"/>
          <p:cNvSpPr/>
          <p:nvPr/>
        </p:nvSpPr>
        <p:spPr>
          <a:xfrm>
            <a:off x="5669118" y="2116257"/>
            <a:ext cx="2804050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cost A→B equals B→A.</a:t>
            </a:r>
            <a:endParaRPr lang="en-US" sz="2400" dirty="0"/>
          </a:p>
        </p:txBody>
      </p:sp>
      <p:sp>
        <p:nvSpPr>
          <p:cNvPr id="6" name="Text 3"/>
          <p:cNvSpPr/>
          <p:nvPr/>
        </p:nvSpPr>
        <p:spPr>
          <a:xfrm>
            <a:off x="8777961" y="1746131"/>
            <a:ext cx="2804149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ASYMMETRIC TSP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8777961" y="2116257"/>
            <a:ext cx="2804149" cy="82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direction changes the cost.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5669118" y="3212227"/>
            <a:ext cx="5912992" cy="1234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b="1" dirty="0">
                <a:solidFill>
                  <a:srgbClr val="E6E9FF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Uses:</a:t>
            </a:r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 Delivery route planning and logistics; circuit board manufacturing; robot path planning.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5669118" y="4717117"/>
            <a:ext cx="6522577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DAA | Travelling Salesman Problem | AI Tool: Gamma AI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3154581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FOUR-CITY EXAMPLE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9430"/>
            <a:ext cx="3154581" cy="19859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400" spc="-17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For four cities, the best tour costs 80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3227626"/>
            <a:ext cx="3154581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Compare tours that start and finish at A.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09585" y="4013994"/>
            <a:ext cx="2774285" cy="475357"/>
          </a:xfrm>
          <a:prstGeom prst="roundRect">
            <a:avLst>
              <a:gd name="adj" fmla="val 21544"/>
            </a:avLst>
          </a:prstGeom>
          <a:solidFill>
            <a:srgbClr val="001C4D"/>
          </a:solidFill>
          <a:ln/>
        </p:spPr>
      </p:sp>
      <p:sp>
        <p:nvSpPr>
          <p:cNvPr id="6" name="Text 4"/>
          <p:cNvSpPr/>
          <p:nvPr/>
        </p:nvSpPr>
        <p:spPr>
          <a:xfrm>
            <a:off x="792440" y="4106278"/>
            <a:ext cx="2971726" cy="2925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900" spc="115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MINIMUM FOUND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221255" y="4355564"/>
            <a:ext cx="7360855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A→B→C→D→A = 10 + 35 + 30 + 20 = 95 · A→C→B→D→A = 15 + 35 + 25 + 20 = 95 · Reverse tours have the same cost in a symmetric TSP.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09585" y="5090775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DAA | Travelling Salesman Problem | AI Tool: Gamma AI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089696" y="1515566"/>
            <a:ext cx="3057548" cy="22622"/>
          </a:xfrm>
          <a:prstGeom prst="line">
            <a:avLst/>
          </a:prstGeom>
          <a:solidFill>
            <a:srgbClr val="2878FF"/>
          </a:solidFill>
          <a:ln w="38100">
            <a:solidFill>
              <a:srgbClr val="FF934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147343" y="1515566"/>
            <a:ext cx="22621" cy="2038350"/>
          </a:xfrm>
          <a:prstGeom prst="line">
            <a:avLst/>
          </a:prstGeom>
          <a:solidFill>
            <a:srgbClr val="2878FF"/>
          </a:solidFill>
          <a:ln w="38100">
            <a:solidFill>
              <a:srgbClr val="FF9347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693426" y="1119187"/>
            <a:ext cx="792639" cy="792659"/>
          </a:xfrm>
          <a:prstGeom prst="ellipse">
            <a:avLst/>
          </a:prstGeom>
          <a:solidFill>
            <a:srgbClr val="2878FF"/>
          </a:solidFill>
          <a:ln w="25400">
            <a:solidFill>
              <a:srgbClr val="FF934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750974" y="1119187"/>
            <a:ext cx="792639" cy="792659"/>
          </a:xfrm>
          <a:prstGeom prst="ellipse">
            <a:avLst/>
          </a:prstGeom>
          <a:solidFill>
            <a:srgbClr val="2878FF"/>
          </a:solidFill>
          <a:ln w="25400">
            <a:solidFill>
              <a:srgbClr val="FF934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750974" y="3157637"/>
            <a:ext cx="792639" cy="792659"/>
          </a:xfrm>
          <a:prstGeom prst="ellipse">
            <a:avLst/>
          </a:prstGeom>
          <a:solidFill>
            <a:srgbClr val="2878FF"/>
          </a:solidFill>
          <a:ln w="25400">
            <a:solidFill>
              <a:srgbClr val="FF934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693426" y="3157637"/>
            <a:ext cx="792639" cy="792659"/>
          </a:xfrm>
          <a:prstGeom prst="ellipse">
            <a:avLst/>
          </a:prstGeom>
          <a:solidFill>
            <a:srgbClr val="2878FF"/>
          </a:solidFill>
          <a:ln w="25400">
            <a:solidFill>
              <a:srgbClr val="FF934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44324" y="1394877"/>
            <a:ext cx="690843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A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8801872" y="1394877"/>
            <a:ext cx="690843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B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8801872" y="3433326"/>
            <a:ext cx="690843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D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5744324" y="3433326"/>
            <a:ext cx="690843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855050" y="1102300"/>
            <a:ext cx="130042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10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006654" y="2268815"/>
            <a:ext cx="130042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25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55050" y="3627715"/>
            <a:ext cx="130042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30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86510" y="2268815"/>
            <a:ext cx="1300428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15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599370" y="2251670"/>
            <a:ext cx="2604526" cy="1132384"/>
          </a:xfrm>
          <a:prstGeom prst="roundRect">
            <a:avLst>
              <a:gd name="adj" fmla="val 10766"/>
            </a:avLst>
          </a:prstGeom>
          <a:solidFill>
            <a:srgbClr val="FF9347"/>
          </a:solidFill>
          <a:ln/>
        </p:spPr>
      </p:sp>
      <p:sp>
        <p:nvSpPr>
          <p:cNvPr id="24" name="Text 22"/>
          <p:cNvSpPr/>
          <p:nvPr/>
        </p:nvSpPr>
        <p:spPr>
          <a:xfrm>
            <a:off x="6777166" y="2386073"/>
            <a:ext cx="2248935" cy="55006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A→B→D→C→A</a:t>
            </a:r>
            <a:endParaRPr lang="en-US" sz="1600" dirty="0"/>
          </a:p>
          <a:p>
            <a:pPr algn="ctr" indent="0" marL="0">
              <a:lnSpc>
                <a:spcPct val="112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10 + 25 + 30 + 15 = </a:t>
            </a:r>
            <a:pPr algn="ctr" indent="0" marL="0">
              <a:lnSpc>
                <a:spcPct val="112000"/>
              </a:lnSpc>
              <a:buNone/>
            </a:pPr>
            <a:r>
              <a:rPr lang="en-US" sz="1600" b="1" dirty="0">
                <a:solidFill>
                  <a:srgbClr val="000000"/>
                </a:solidFill>
                <a:latin typeface="Lexend Bold" pitchFamily="34" charset="0"/>
                <a:ea typeface="Lexend Bold" pitchFamily="34" charset="-122"/>
                <a:cs typeface="Lexend Bold" pitchFamily="34" charset="-120"/>
              </a:rPr>
              <a:t>80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097252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ALGORITHM CHOICES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9430"/>
            <a:ext cx="10972526" cy="992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400" spc="-17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Three approaches trade speed, memory, and simplicity</a:t>
            </a:r>
            <a:endParaRPr lang="en-US" sz="3400" dirty="0"/>
          </a:p>
        </p:txBody>
      </p:sp>
      <p:sp>
        <p:nvSpPr>
          <p:cNvPr id="4" name="Shape 2"/>
          <p:cNvSpPr/>
          <p:nvPr/>
        </p:nvSpPr>
        <p:spPr>
          <a:xfrm>
            <a:off x="609585" y="2226072"/>
            <a:ext cx="3454314" cy="2179042"/>
          </a:xfrm>
          <a:prstGeom prst="roundRect">
            <a:avLst>
              <a:gd name="adj" fmla="val 5875"/>
            </a:avLst>
          </a:prstGeom>
          <a:noFill/>
          <a:ln w="38099">
            <a:solidFill>
              <a:srgbClr val="4D4D8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76278" y="2357517"/>
            <a:ext cx="31876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01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76278" y="2677478"/>
            <a:ext cx="2920927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Brute Force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76278" y="3286065"/>
            <a:ext cx="292092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Test every possible tour; simple but slow.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4368691" y="2226072"/>
            <a:ext cx="3454314" cy="2179042"/>
          </a:xfrm>
          <a:prstGeom prst="roundRect">
            <a:avLst>
              <a:gd name="adj" fmla="val 5875"/>
            </a:avLst>
          </a:prstGeom>
          <a:noFill/>
          <a:ln w="38099">
            <a:solidFill>
              <a:srgbClr val="4D4D8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635384" y="2357517"/>
            <a:ext cx="31876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02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635384" y="2677478"/>
            <a:ext cx="2920927" cy="792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Dynamic Programming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635384" y="3682246"/>
            <a:ext cx="292092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Reuse smaller subproblem results.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8127797" y="2226072"/>
            <a:ext cx="3454314" cy="2179042"/>
          </a:xfrm>
          <a:prstGeom prst="roundRect">
            <a:avLst>
              <a:gd name="adj" fmla="val 5875"/>
            </a:avLst>
          </a:prstGeom>
          <a:noFill/>
          <a:ln w="38099">
            <a:solidFill>
              <a:srgbClr val="4D4D8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94490" y="2357517"/>
            <a:ext cx="318762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394490" y="2677478"/>
            <a:ext cx="2920927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400" spc="-12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Branch and Bound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394490" y="3286065"/>
            <a:ext cx="2920927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Prune routes unable to beat the current best.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09585" y="4582914"/>
            <a:ext cx="10972526" cy="1173460"/>
          </a:xfrm>
          <a:prstGeom prst="roundRect">
            <a:avLst>
              <a:gd name="adj" fmla="val 10909"/>
            </a:avLst>
          </a:prstGeom>
          <a:solidFill>
            <a:srgbClr val="002F80"/>
          </a:solidFill>
          <a:ln/>
        </p:spPr>
      </p:sp>
      <p:sp>
        <p:nvSpPr>
          <p:cNvPr id="17" name="Text 15"/>
          <p:cNvSpPr/>
          <p:nvPr/>
        </p:nvSpPr>
        <p:spPr>
          <a:xfrm>
            <a:off x="914377" y="4975344"/>
            <a:ext cx="10667733" cy="411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2400" dirty="0">
                <a:solidFill>
                  <a:srgbClr val="FFFF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No single approach is best for every input size.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609585" y="6038314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DAA | Travelling Salesman Problem | AI Tool: Gamma AI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0972526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BRUTE-FORCE METHOD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9430"/>
            <a:ext cx="10972526" cy="992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400" spc="-17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Brute-force TSP: generate, measure, keep the best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609585" y="2226072"/>
            <a:ext cx="1067071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01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609585" y="2652812"/>
            <a:ext cx="1950592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2867422"/>
            <a:ext cx="195069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Fix start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09585" y="3412569"/>
            <a:ext cx="1950691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Hold A constant.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2864969" y="2226072"/>
            <a:ext cx="11437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02</a:t>
            </a:r>
            <a:endParaRPr lang="en-US" sz="2400" dirty="0"/>
          </a:p>
        </p:txBody>
      </p:sp>
      <p:sp>
        <p:nvSpPr>
          <p:cNvPr id="9" name="Shape 7"/>
          <p:cNvSpPr/>
          <p:nvPr/>
        </p:nvSpPr>
        <p:spPr>
          <a:xfrm>
            <a:off x="2864969" y="2652812"/>
            <a:ext cx="1950592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0" name="Text 8"/>
          <p:cNvSpPr/>
          <p:nvPr/>
        </p:nvSpPr>
        <p:spPr>
          <a:xfrm>
            <a:off x="2864969" y="2867422"/>
            <a:ext cx="195069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Generate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864969" y="3412569"/>
            <a:ext cx="1950691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Order the remaining cities.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120353" y="2226072"/>
            <a:ext cx="11437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03</a:t>
            </a:r>
            <a:endParaRPr lang="en-US" sz="2400" dirty="0"/>
          </a:p>
        </p:txBody>
      </p:sp>
      <p:sp>
        <p:nvSpPr>
          <p:cNvPr id="13" name="Shape 11"/>
          <p:cNvSpPr/>
          <p:nvPr/>
        </p:nvSpPr>
        <p:spPr>
          <a:xfrm>
            <a:off x="5120353" y="2652812"/>
            <a:ext cx="1950889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4" name="Text 12"/>
          <p:cNvSpPr/>
          <p:nvPr/>
        </p:nvSpPr>
        <p:spPr>
          <a:xfrm>
            <a:off x="5120353" y="2867422"/>
            <a:ext cx="1950889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Measure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120353" y="3412569"/>
            <a:ext cx="1950889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Add every edge, including the return.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375936" y="2226072"/>
            <a:ext cx="1168172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04</a:t>
            </a:r>
            <a:endParaRPr lang="en-US" sz="2400" dirty="0"/>
          </a:p>
        </p:txBody>
      </p:sp>
      <p:sp>
        <p:nvSpPr>
          <p:cNvPr id="17" name="Shape 15"/>
          <p:cNvSpPr/>
          <p:nvPr/>
        </p:nvSpPr>
        <p:spPr>
          <a:xfrm>
            <a:off x="7375936" y="2652812"/>
            <a:ext cx="1950592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18" name="Text 16"/>
          <p:cNvSpPr/>
          <p:nvPr/>
        </p:nvSpPr>
        <p:spPr>
          <a:xfrm>
            <a:off x="7375936" y="2867422"/>
            <a:ext cx="195069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Compare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375936" y="3412569"/>
            <a:ext cx="1950691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Keep the current minimum.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631320" y="2226072"/>
            <a:ext cx="1143765" cy="304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2400" dirty="0">
                <a:solidFill>
                  <a:srgbClr val="69A1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05</a:t>
            </a:r>
            <a:endParaRPr lang="en-US" sz="2400" dirty="0"/>
          </a:p>
        </p:txBody>
      </p:sp>
      <p:sp>
        <p:nvSpPr>
          <p:cNvPr id="21" name="Shape 19"/>
          <p:cNvSpPr/>
          <p:nvPr/>
        </p:nvSpPr>
        <p:spPr>
          <a:xfrm>
            <a:off x="9631320" y="2652812"/>
            <a:ext cx="1950691" cy="19050"/>
          </a:xfrm>
          <a:prstGeom prst="rect">
            <a:avLst/>
          </a:prstGeom>
          <a:solidFill>
            <a:srgbClr val="2878FF"/>
          </a:solidFill>
          <a:ln/>
        </p:spPr>
      </p:sp>
      <p:sp>
        <p:nvSpPr>
          <p:cNvPr id="22" name="Text 20"/>
          <p:cNvSpPr/>
          <p:nvPr/>
        </p:nvSpPr>
        <p:spPr>
          <a:xfrm>
            <a:off x="9631320" y="2867422"/>
            <a:ext cx="1950790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2000" spc="-10" kern="100" dirty="0">
                <a:solidFill>
                  <a:srgbClr val="E6E9FF"/>
                </a:solidFill>
                <a:latin typeface="Lexend Medium" pitchFamily="34" charset="0"/>
                <a:ea typeface="Lexend Medium" pitchFamily="34" charset="-122"/>
                <a:cs typeface="Lexend Medium" pitchFamily="34" charset="-120"/>
              </a:rPr>
              <a:t>Display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9631320" y="3412569"/>
            <a:ext cx="1950790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Show the best tour and cost.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09585" y="4516080"/>
            <a:ext cx="1097252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Flow: Start → Generate Tours → Calculate Costs → Compare Minimum → Display Best Tour → End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09585" y="5098018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DAA | Travelling Salesman Problem | AI Tool: Gamma AI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26745"/>
            <a:ext cx="11582110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27E0E3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COMPLEXITY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09585" y="946375"/>
            <a:ext cx="10972526" cy="4088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2800" spc="-14" kern="100" dirty="0">
                <a:solidFill>
                  <a:srgbClr val="FFFF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Factorial search becomes impractical quickly</a:t>
            </a:r>
            <a:endParaRPr lang="en-US" sz="28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1641971"/>
          <a:ext cx="10972526" cy="914400"/>
        </p:xfrm>
        <a:graphic>
          <a:graphicData uri="http://schemas.openxmlformats.org/drawingml/2006/table">
            <a:tbl>
              <a:tblPr/>
              <a:tblGrid>
                <a:gridCol w="2523665"/>
                <a:gridCol w="2743131"/>
                <a:gridCol w="2743131"/>
                <a:gridCol w="2962598"/>
              </a:tblGrid>
              <a:tr h="5712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Approach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Time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Space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FFFF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Main idea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1287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Brute Force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O(n!)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O(n) auxiliary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Check every tour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798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Dynamic Programming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O(n² × 2ⁿ)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O(n × 2ⁿ)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Reuse subproblems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8608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Branch and Bound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Exponential worst case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Depends on bounds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800" dirty="0">
                          <a:solidFill>
                            <a:srgbClr val="E6E9FF"/>
                          </a:solidFill>
                          <a:latin typeface="Lexend" pitchFamily="34" charset="0"/>
                          <a:ea typeface="Lexend" pitchFamily="34" charset="-122"/>
                          <a:cs typeface="Lexend" pitchFamily="34" charset="-120"/>
                        </a:rPr>
                        <a:t>Prune weak routes</a:t>
                      </a:r>
                      <a:endParaRPr lang="en-US" sz="1800" dirty="0">
                        <a:latin typeface="Lexend" charset="0"/>
                        <a:ea typeface="Lexend" charset="0"/>
                        <a:cs typeface="Lexend" charset="0"/>
                      </a:endParaRPr>
                    </a:p>
                  </a:txBody>
                  <a:tcPr marL="228594" marR="228594" marT="121917" marB="121917" anchor="ctr">
                    <a:lnL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1F4BA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15154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09585" y="4798318"/>
            <a:ext cx="10972526" cy="9662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spcAft>
                <a:spcPts val="2100"/>
              </a:spcAft>
              <a:buNone/>
            </a:pPr>
            <a:r>
              <a:rPr lang="en-US" sz="1400" spc="14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Branch and Bound is often faster in practice through pruning, but worst-case time remains exponential. As n grows, factorial work rises extremely fast.</a:t>
            </a:r>
            <a:endParaRPr lang="en-US" sz="14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DAA | Travelling Salesman Problem | AI Tool: Gamma AI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9585" y="609600"/>
            <a:ext cx="7315017" cy="4876800"/>
          </a:xfrm>
          <a:prstGeom prst="rect">
            <a:avLst/>
          </a:prstGeom>
          <a:solidFill>
            <a:srgbClr val="1E1F66"/>
          </a:solidFill>
          <a:ln/>
        </p:spPr>
      </p:sp>
      <p:sp>
        <p:nvSpPr>
          <p:cNvPr id="3" name="Text 1"/>
          <p:cNvSpPr/>
          <p:nvPr/>
        </p:nvSpPr>
        <p:spPr>
          <a:xfrm>
            <a:off x="838179" y="977583"/>
            <a:ext cx="708642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TAKEAWAY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838179" y="1300267"/>
            <a:ext cx="6857828" cy="9929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400" spc="-17" kern="100" dirty="0">
                <a:solidFill>
                  <a:srgbClr val="E6E9FF"/>
                </a:solidFill>
                <a:latin typeface="Krona One" pitchFamily="34" charset="0"/>
                <a:ea typeface="Krona One" pitchFamily="34" charset="-122"/>
                <a:cs typeface="Krona One" pitchFamily="34" charset="-120"/>
              </a:rPr>
              <a:t>TSP is simple to state, hard to scale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38179" y="2585482"/>
            <a:ext cx="6857828" cy="154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8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The goal is one minimum-cost Hamiltonian cycle. Brute force is useful for small inputs and learning. Dynamic programming and Branch and Bound reduce unnecessary search; real systems use stronger heuristics and approximations for large instances.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38179" y="4306451"/>
            <a:ext cx="6857828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References: Cormen et al., </a:t>
            </a:r>
            <a:pPr algn="l" indent="0" marL="0">
              <a:lnSpc>
                <a:spcPct val="108000"/>
              </a:lnSpc>
              <a:buNone/>
            </a:pPr>
            <a:r>
              <a:rPr lang="en-US" sz="1400" i="1" spc="14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Introduction to Algorithms</a:t>
            </a:r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, 4th ed.; Kleinberg &amp; Tardos, </a:t>
            </a:r>
            <a:pPr algn="l" indent="0" marL="0">
              <a:lnSpc>
                <a:spcPct val="108000"/>
              </a:lnSpc>
              <a:buNone/>
            </a:pPr>
            <a:r>
              <a:rPr lang="en-US" sz="1400" i="1" spc="14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Algorithm Design</a:t>
            </a:r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E6E9FF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; MIT OpenCourseWare algorithm notes.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38179" y="4954667"/>
            <a:ext cx="7086423" cy="1980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300" spc="78" kern="100" dirty="0">
                <a:solidFill>
                  <a:srgbClr val="E6E9FF"/>
                </a:solidFill>
                <a:latin typeface="Martian Mono Medium" pitchFamily="34" charset="0"/>
                <a:ea typeface="Martian Mono Medium" pitchFamily="34" charset="-122"/>
                <a:cs typeface="Martian Mono Medium" pitchFamily="34" charset="-120"/>
              </a:rPr>
              <a:t>AI TOOL USED: GAMMA AI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24602" y="609600"/>
            <a:ext cx="3657509" cy="48768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09585" y="5768340"/>
            <a:ext cx="1158211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400" spc="14" kern="100" dirty="0">
                <a:solidFill>
                  <a:srgbClr val="B9BEEA"/>
                </a:solidFill>
                <a:latin typeface="Lexend" pitchFamily="34" charset="0"/>
                <a:ea typeface="Lexend" pitchFamily="34" charset="-122"/>
                <a:cs typeface="Lexend" pitchFamily="34" charset="-120"/>
              </a:rPr>
              <a:t>DAA | Travelling Salesman Problem | AI Tool: Gamma AI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2026-10-17T20:24:23Z</dcterms:created>
  <dcterms:modified xsi:type="dcterms:W3CDTF">2026-10-17T20:24:23Z</dcterms:modified>
</cp:coreProperties>
</file>